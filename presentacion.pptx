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video/unknown"/>
  <Override PartName="/ppt/media/media2.wav" ContentType="video/unknown"/>
  <Override PartName="/ppt/media/media3.wav" ContentType="video/unknown"/>
  <Override PartName="/ppt/media/media4.wav" ContentType="video/unknown"/>
  <Override PartName="/ppt/media/media5.wav" ContentType="video/unknown"/>
  <Override PartName="/ppt/media/media6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av"/><Relationship Id="rId3" Type="http://schemas.openxmlformats.org/officeDocument/2006/relationships/video" Target="../media/media1.wav"/><Relationship Id="rId4" Type="http://schemas.openxmlformats.org/officeDocument/2006/relationships/image" Target="../media/image1.png"/><Relationship Id="rId5" Type="http://schemas.microsoft.com/office/2007/relationships/media" Target="../media/media2.wav"/><Relationship Id="rId6" Type="http://schemas.openxmlformats.org/officeDocument/2006/relationships/video" Target="../media/media2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wav"/><Relationship Id="rId3" Type="http://schemas.openxmlformats.org/officeDocument/2006/relationships/video" Target="../media/media3.wav"/><Relationship Id="rId4" Type="http://schemas.openxmlformats.org/officeDocument/2006/relationships/image" Target="../media/image1.png"/><Relationship Id="rId5" Type="http://schemas.microsoft.com/office/2007/relationships/media" Target="../media/media4.wav"/><Relationship Id="rId6" Type="http://schemas.openxmlformats.org/officeDocument/2006/relationships/video" Target="../media/media4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wav"/><Relationship Id="rId3" Type="http://schemas.openxmlformats.org/officeDocument/2006/relationships/video" Target="../media/media5.wav"/><Relationship Id="rId4" Type="http://schemas.openxmlformats.org/officeDocument/2006/relationships/image" Target="../media/image1.png"/><Relationship Id="rId5" Type="http://schemas.microsoft.com/office/2007/relationships/media" Target="../media/media6.wav"/><Relationship Id="rId6" Type="http://schemas.openxmlformats.org/officeDocument/2006/relationships/video" Target="../media/media6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¿Niño o niña?</a:t>
            </a:r>
          </a:p>
          <a:p>
            <a:pPr algn="ctr">
              <a:defRPr sz="3600">
                <a:solidFill>
                  <a:srgbClr val="C0392B"/>
                </a:solidFill>
              </a:defRPr>
            </a:pPr>
            <a:r>
              <a:t>La percepción del género en las voces infantiles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Actividad inicial: ¿Quién está hablando?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Escuchad estas voces y responded: ¿es un niño o una niña?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828800"/>
            <a:ext cx="3017520" cy="411480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1031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Audio 1</a:t>
            </a:r>
          </a:p>
        </p:txBody>
      </p:sp>
      <p:pic>
        <p:nvPicPr>
          <p:cNvPr id="7" name="audio_ninio_2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65960" y="2926080"/>
            <a:ext cx="1645920" cy="1645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1828800"/>
            <a:ext cx="3017520" cy="411480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Audio 2</a:t>
            </a:r>
          </a:p>
        </p:txBody>
      </p:sp>
      <p:pic>
        <p:nvPicPr>
          <p:cNvPr id="10" name="audio_ninia_1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32120" y="2926080"/>
            <a:ext cx="1645920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Actividad inicial (II)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371600"/>
            <a:ext cx="3017520" cy="438912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Audio 3</a:t>
            </a:r>
          </a:p>
        </p:txBody>
      </p:sp>
      <p:pic>
        <p:nvPicPr>
          <p:cNvPr id="6" name="audio_ninio_3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65960" y="2560320"/>
            <a:ext cx="1645920" cy="1645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46320" y="1371600"/>
            <a:ext cx="3017520" cy="438912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Audio 4</a:t>
            </a:r>
          </a:p>
        </p:txBody>
      </p:sp>
      <p:pic>
        <p:nvPicPr>
          <p:cNvPr id="9" name="audio_ninia3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32120" y="2560320"/>
            <a:ext cx="1645920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Actividad inicial (III)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3017520" cy="365760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Audio 5</a:t>
            </a:r>
          </a:p>
        </p:txBody>
      </p:sp>
      <p:pic>
        <p:nvPicPr>
          <p:cNvPr id="6" name="audio_ninio_1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65960" y="2286000"/>
            <a:ext cx="1645920" cy="1645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46320" y="1188720"/>
            <a:ext cx="3017520" cy="365760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Audio 6</a:t>
            </a:r>
          </a:p>
        </p:txBody>
      </p:sp>
      <p:pic>
        <p:nvPicPr>
          <p:cNvPr id="9" name="audio_ninia_2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32120" y="228600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</a:defRPr>
            </a:pPr>
            <a:r>
              <a:t>Pregunta: ¿habéis podido identificar el género de cada voz?</a:t>
            </a:r>
          </a:p>
          <a:p>
            <a:r>
              <a:t>¿Con qué grado de certeza?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El enigma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</a:defRPr>
            </a:pPr>
            <a:r>
              <a:t>Lo que dice la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Según Funk &amp; Simpson (2023), identificamos el género de voces infantiles con una precisión del 70-84%, muy por encima del azar, pero: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768096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i="1">
                <a:solidFill>
                  <a:srgbClr val="34495E"/>
                </a:solidFill>
              </a:defRPr>
            </a:pPr>
            <a:r>
              <a:t>"Las diferencias en el aparato fonador entre niños y niñas antes de la pubertad son prácticamente inexistentes"</a:t>
            </a:r>
          </a:p>
          <a:p/>
          <a:p>
            <a:r>
              <a:t>— Fitch &amp; Giedd (1999)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</a:defRPr>
            </a:pPr>
            <a:r>
              <a:t>Entonces, ¿cómo lo hacemos?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Los datos acústicos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4495E"/>
                </a:solidFill>
              </a:defRPr>
            </a:pPr>
            <a:r>
              <a:t>Parámetros de las grabaciones que escuchasteis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" y="1371600"/>
          <a:ext cx="8869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7"/>
                <a:gridCol w="1267097"/>
                <a:gridCol w="1267097"/>
                <a:gridCol w="1267097"/>
                <a:gridCol w="1267097"/>
                <a:gridCol w="1267097"/>
                <a:gridCol w="1267098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Grabación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Palabras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Vocales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Tono (Hz)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F1 (Hz)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F2 (Hz)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F3 (Hz)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Niña 1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300±38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678±206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1603±682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2918±494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Niña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259±39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702±186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1376±339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2568±583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Niña 3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238±23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687±130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1220±356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2844±633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Niño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280±34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660±132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1741±494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2697±406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Niño 2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268±39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666±57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1750±292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2879±500</a:t>
                      </a:r>
                    </a:p>
                  </a:txBody>
                  <a:tcPr>
                    <a:solidFill>
                      <a:srgbClr val="FCFC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Niño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302±44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681±140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1598±501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2800±573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</a:defRPr>
            </a:pPr>
            <a:r>
              <a:t>Los rangos se solapan completamente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Entendiendo la acústica de la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El tono (frecuencia fundamental, F₀)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la "altura" de la voz (grave o aguda)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producido por la vibración de las cuerdas vocales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en niños prepuberales: 200-350 Hz (similar en ambos géneros)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para comparar: adultos varones ~120 Hz, mujeres adultas ~220 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Entendiendo la acústica de la voz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Los formantes (F1, F2, F3)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frecuencias de resonancia del tracto vocal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determinan la calidad de las vocales (/a/, /e/, /i/, /o/, /u/)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relacionados con la longitud del tracto vocal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F1: apertura de la boca (bajo = cerrada /i/, alto = abierta /a/)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F2: posición de la lengua (bajo = posterior /u/, alto = anterior /i/)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F3: configuración más compleja del tracto vocal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Las visualizaciones acústicas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34495E"/>
                </a:solidFill>
              </a:defRPr>
            </a:pPr>
            <a:r>
              <a:t>Espacio vocálico F1-F2</a:t>
            </a:r>
          </a:p>
        </p:txBody>
      </p:sp>
      <p:pic>
        <p:nvPicPr>
          <p:cNvPr id="5" name="Picture 4" descr="vowel_spaces_overlap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484841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34495E"/>
                </a:solidFill>
              </a:defRPr>
            </a:pPr>
            <a:r>
              <a:t>Interpretación: las elipses muestran la distribución de las vocales de cada hablante. El solapamiento es evidente.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Las visualizaciones acústicas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34495E"/>
                </a:solidFill>
              </a:defRPr>
            </a:pPr>
            <a:r>
              <a:t>Distribución del tono</a:t>
            </a:r>
          </a:p>
        </p:txBody>
      </p:sp>
      <p:pic>
        <p:nvPicPr>
          <p:cNvPr id="5" name="Picture 4" descr="gender_comparison_statistical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5942537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34495E"/>
                </a:solidFill>
              </a:defRPr>
            </a:pPr>
            <a:r>
              <a:t>Interpretación: las barras de error muestran que los rangos de tono son muy similares entre niños y niñas.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La paradoja: ¿cómo diferenciamos entonces?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4495E"/>
                </a:solidFill>
              </a:defRPr>
            </a:pPr>
            <a:r>
              <a:t>Lo que sabemos de la percepción - Barreda &amp; Assmann (2021)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68096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i="1"/>
            </a:pPr>
            <a:r>
              <a:t>"La percepción del género y la edad del hablante están entrelazadas. Los oyentes usan información sobre la edad para informar sus juicios de género"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0392B"/>
                </a:solidFill>
              </a:defRPr>
            </a:pPr>
            <a:r>
              <a:t>Implicación: el contexto y las expectativas importan.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Lo que sabemos de la percepción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Funk &amp; Simpson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Pitch como predictor principal (aunque con mucho solapamiento)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Espectro de sibilantes (/s/, /z/): los niños tienden a producirlas con energía más baja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Correlación con conformidad de género: los niños que expresan mayor conformidad muestran diferencias más marcadas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La respuesta: no es solo la anatomía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Factor 1: diferencias comportamentales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Desde los 2-3 años, los niños internalizan estereotipos de género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Pueden modificar voluntariamente su voz para sonar más "masculinos" o "femeninos"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Cartei et al. (2019): niños de 6-10 años pueden controlar la expresión de masculinidad/feminidad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La respuesta: no es solo la anatomía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Factor 2: información prosódica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Patrones de entonación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Ritmo del habla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Variabilidad temporal y espectral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Mucho más evidente en frases completas que en sílabas aisladas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La respuesta: no es solo la anatomía (III)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Factor 3: información contextual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Duración del estímulo (mejor en oraciones que en vocales aisladas)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Conocimiento de la edad aproximada del hablante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Expectativas culturales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Las diferencias acústicas prepuberales son sutiles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No hay dimorfismo sexual anatómico significativo antes de la pubertad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Los parámetros acústicos básicos (tono, formantes) se solapan completamente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Conclusiones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Pero la percepción es robusta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Identificamos correctamente el género en ~70-80% de los 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La precisión mejora con más contexto (oraciones vs sílabas aisladas)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Conclusiones (III)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495E"/>
                </a:solidFill>
              </a:defRPr>
            </a:pPr>
            <a:r>
              <a:t>La voz como práctica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Los niños aprenden y practican patrones de habla asociados a su género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La voz no solo refleja anatomía, sino identidad de género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/>
            </a:pPr>
            <a:r>
              <a:t>• Implicaciones: desarrollo del lenguaje, identidad de género, terapia de voz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Reflexión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/>
            </a:pPr>
            <a:r>
              <a:t>La pregunta no es solo "¿cómo diferenciamos?"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C0392B"/>
                </a:solidFill>
              </a:defRPr>
            </a:pPr>
            <a:r>
              <a:t>Es también: ¿Qué nos dice esto sobre cómo se construye el género?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• Es performativo: se practica y se expresa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• Es perceptivo: lo interpretamos con expectativas culturales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/>
            </a:pPr>
            <a:r>
              <a:t>• Es dinámico: evoluciona con el desarrollo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64592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Preguntas para el 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1. ¿Creéis que los niños son conscientes de que modifican su voz para sonar más "masculinos" o "femeninos"?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2. Si las diferencias anatómicas son mínimas, ¿de dónde aprenden los niños estos patrones vocales?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3. ¿Qué implicaciones tiene esto para nuestra comprensión del género como constructo social vs biológico?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4. ¿Debería esto cambiar nuestra aproximación a la terapia de voz para niños transgénero?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