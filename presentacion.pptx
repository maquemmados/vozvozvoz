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wav" ContentType="video/unknown"/>
  <Override PartName="/ppt/media/media2.wav" ContentType="video/unknown"/>
  <Override PartName="/ppt/media/media3.wav" ContentType="video/unknown"/>
  <Override PartName="/ppt/media/media4.wav" ContentType="video/unknown"/>
  <Override PartName="/ppt/media/media5.wav" ContentType="video/unknown"/>
  <Override PartName="/ppt/media/media6.wav" ContentType="video/unknown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wav"/><Relationship Id="rId3" Type="http://schemas.openxmlformats.org/officeDocument/2006/relationships/video" Target="../media/media1.wav"/><Relationship Id="rId4" Type="http://schemas.openxmlformats.org/officeDocument/2006/relationships/image" Target="../media/image1.png"/><Relationship Id="rId5" Type="http://schemas.microsoft.com/office/2007/relationships/media" Target="../media/media2.wav"/><Relationship Id="rId6" Type="http://schemas.openxmlformats.org/officeDocument/2006/relationships/video" Target="../media/media2.wav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wav"/><Relationship Id="rId3" Type="http://schemas.openxmlformats.org/officeDocument/2006/relationships/video" Target="../media/media3.wav"/><Relationship Id="rId4" Type="http://schemas.openxmlformats.org/officeDocument/2006/relationships/image" Target="../media/image1.png"/><Relationship Id="rId5" Type="http://schemas.microsoft.com/office/2007/relationships/media" Target="../media/media4.wav"/><Relationship Id="rId6" Type="http://schemas.openxmlformats.org/officeDocument/2006/relationships/video" Target="../media/media4.wav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wav"/><Relationship Id="rId3" Type="http://schemas.openxmlformats.org/officeDocument/2006/relationships/video" Target="../media/media5.wav"/><Relationship Id="rId4" Type="http://schemas.openxmlformats.org/officeDocument/2006/relationships/image" Target="../media/image1.png"/><Relationship Id="rId5" Type="http://schemas.microsoft.com/office/2007/relationships/media" Target="../media/media6.wav"/><Relationship Id="rId6" Type="http://schemas.openxmlformats.org/officeDocument/2006/relationships/video" Target="../media/media6.wav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C3E50"/>
                </a:solidFill>
              </a:defRPr>
            </a:pPr>
            <a:r>
              <a:t>¿Niño o niña? La percepción del género en las voces infantiles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4495E"/>
                </a:solidFill>
              </a:defRPr>
            </a:pPr>
            <a:r>
              <a:t>Actividad inicial: ¿Quién está hablando?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Escuchad estas voces y responded: ¿es un niño o una niña?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55555"/>
                </a:solidFill>
              </a:defRPr>
            </a:pPr>
            <a:r>
              <a:t>Audio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&lt;/audio&gt;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55555"/>
                </a:solidFill>
              </a:defRPr>
            </a:pPr>
            <a:r>
              <a:t>Audio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&lt;/audio&gt;</a:t>
            </a:r>
          </a:p>
        </p:txBody>
      </p:sp>
      <p:pic>
        <p:nvPicPr>
          <p:cNvPr id="8" name="audio_ninio_2.wav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14400" y="5943600"/>
            <a:ext cx="457200" cy="457200"/>
          </a:xfrm>
          <a:prstGeom prst="rect">
            <a:avLst/>
          </a:prstGeom>
        </p:spPr>
      </p:pic>
      <p:pic>
        <p:nvPicPr>
          <p:cNvPr id="9" name="audio_ninia_1.wav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200400" y="5943600"/>
            <a:ext cx="457200" cy="457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4495E"/>
                </a:solidFill>
              </a:defRPr>
            </a:pPr>
            <a:r>
              <a:t>Actividad inicial (II)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55555"/>
                </a:solidFill>
              </a:defRPr>
            </a:pPr>
            <a:r>
              <a:t>Audio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1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&lt;/audio&gt;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39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55555"/>
                </a:solidFill>
              </a:defRPr>
            </a:pPr>
            <a:r>
              <a:t>Audio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7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&lt;/audio&gt;</a:t>
            </a:r>
          </a:p>
        </p:txBody>
      </p:sp>
      <p:pic>
        <p:nvPicPr>
          <p:cNvPr id="7" name="audio_ninio_3.wav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14400" y="5943600"/>
            <a:ext cx="457200" cy="457200"/>
          </a:xfrm>
          <a:prstGeom prst="rect">
            <a:avLst/>
          </a:prstGeom>
        </p:spPr>
      </p:pic>
      <p:pic>
        <p:nvPicPr>
          <p:cNvPr id="8" name="audio_ninia3.wav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200400" y="5943600"/>
            <a:ext cx="457200" cy="457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4495E"/>
                </a:solidFill>
              </a:defRPr>
            </a:pPr>
            <a:r>
              <a:t>Actividad inicial (III)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55555"/>
                </a:solidFill>
              </a:defRPr>
            </a:pPr>
            <a:r>
              <a:t>Audio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1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&lt;/audio&gt;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39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55555"/>
                </a:solidFill>
              </a:defRPr>
            </a:pPr>
            <a:r>
              <a:t>Audio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7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&lt;/audio&gt;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19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Pregunta: ¿habéis podido identificar el género de cada voz? ¿Con qué grado de certeza?</a:t>
            </a:r>
          </a:p>
        </p:txBody>
      </p:sp>
      <p:pic>
        <p:nvPicPr>
          <p:cNvPr id="8" name="audio_ninio_1.wav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14400" y="5943600"/>
            <a:ext cx="457200" cy="457200"/>
          </a:xfrm>
          <a:prstGeom prst="rect">
            <a:avLst/>
          </a:prstGeom>
        </p:spPr>
      </p:pic>
      <p:pic>
        <p:nvPicPr>
          <p:cNvPr id="9" name="audio_ninia_2.wav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200400" y="5943600"/>
            <a:ext cx="457200" cy="457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4495E"/>
                </a:solidFill>
              </a:defRPr>
            </a:pPr>
            <a:r>
              <a:t>El enigma científico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55555"/>
                </a:solidFill>
              </a:defRPr>
            </a:pPr>
            <a:r>
              <a:t>Lo que dice la investigación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1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Según Funk &amp; Simpson (2023), identificamos el género de voces infantiles con una precisión del 70-84%, muy por encima del azar, pero: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39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3498DB"/>
                </a:solidFill>
              </a:defRPr>
            </a:pPr>
            <a:r>
              <a:t>"Las diferencias en el aparato fonador entre niños y niñas antes de la pubertad son prácticamente inexistentes"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7743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59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3498DB"/>
                </a:solidFill>
              </a:defRPr>
            </a:pPr>
            <a:r>
              <a:t>— Fitch &amp; Giedd (1999)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0895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Entonces, ¿cómo lo hacemos?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4495E"/>
                </a:solidFill>
              </a:defRPr>
            </a:pPr>
            <a:r>
              <a:t>Los datos acústicos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55555"/>
                </a:solidFill>
              </a:defRPr>
            </a:pPr>
            <a:r>
              <a:t>Parámetros de las grabaciones que escuchasteis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1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|-----------|----------|---------|------------|---------|---------|---------|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4495E"/>
                </a:solidFill>
              </a:defRPr>
            </a:pPr>
            <a:r>
              <a:t>Los datos acústicos (II)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55555"/>
                </a:solidFill>
              </a:defRPr>
            </a:pPr>
            <a:r>
              <a:t>Observación clave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1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Los rangos se solapan completamente. No hay diferencias estadísticamente significativas.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4495E"/>
                </a:solidFill>
              </a:defRPr>
            </a:pPr>
            <a:r>
              <a:t>Entendiendo la acústica de la voz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55555"/>
                </a:solidFill>
              </a:defRPr>
            </a:pPr>
            <a:r>
              <a:t>El tono (frecuencia fundamental, F₀)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19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la "altura" de la voz (grave o aguda)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producido por la vibración de las cuerdas vocales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en niños prepuberales: 200-350 Hz (similar en ambos géneros)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06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para comparar: adultos varones ~120 Hz, mujeres adultas ~220 Hz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4495E"/>
                </a:solidFill>
              </a:defRPr>
            </a:pPr>
            <a:r>
              <a:t>Entendiendo la acústica de la voz (II)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55555"/>
                </a:solidFill>
              </a:defRPr>
            </a:pPr>
            <a:r>
              <a:t>Los formantes (F1, F2, F3)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19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frecuencias de resonancia del tracto vocal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determinan la calidad de las vocales (/a/, /e/, /i/, /o/, /u/)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relacionados con la longitud del tracto vocal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F1: apertura de la boca (bajo = cerrada /i/, alto = abierta /a/)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803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F2: posición de la lengua (bajo = posterior /u/, alto = anterior /i/)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5467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F3: configuración más compleja del tracto vocal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4495E"/>
                </a:solidFill>
              </a:defRPr>
            </a:pPr>
            <a:r>
              <a:t>Las visualizaciones acústicas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55555"/>
                </a:solidFill>
              </a:defRPr>
            </a:pPr>
            <a:r>
              <a:t>Espacio vocálico F1-F2</a:t>
            </a:r>
          </a:p>
        </p:txBody>
      </p:sp>
      <p:pic>
        <p:nvPicPr>
          <p:cNvPr id="4" name="Picture 3" descr="vowel_spaces_overlap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645919"/>
            <a:ext cx="4216012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4864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Interpretación: las elipses muestran la distribución de las vocales de cada hablante. El solapamiento es evidente.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4495E"/>
                </a:solidFill>
              </a:defRPr>
            </a:pPr>
            <a:r>
              <a:t>Las visualizaciones acústicas (II)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55555"/>
                </a:solidFill>
              </a:defRPr>
            </a:pPr>
            <a:r>
              <a:t>Distribución del tono</a:t>
            </a:r>
          </a:p>
        </p:txBody>
      </p:sp>
      <p:pic>
        <p:nvPicPr>
          <p:cNvPr id="4" name="Picture 3" descr="gender_comparison_statistical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645919"/>
            <a:ext cx="5167423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4864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Interpretación: las barras de error muestran que los rangos de tono son muy similares entre niños y niñas.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4495E"/>
                </a:solidFill>
              </a:defRPr>
            </a:pPr>
            <a:r>
              <a:t>La paradoja: ¿cómo diferenciamos entonces?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55555"/>
                </a:solidFill>
              </a:defRPr>
            </a:pPr>
            <a:r>
              <a:t>Lo que sabemos de la percepción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19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i="1">
                <a:solidFill>
                  <a:srgbClr val="666666"/>
                </a:solidFill>
              </a:defRPr>
            </a:pPr>
            <a:r>
              <a:t>Barreda &amp; Assmann (2021)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3498DB"/>
                </a:solidFill>
              </a:defRPr>
            </a:pPr>
            <a:r>
              <a:t>"La percepción del género y la edad del hablante están entrelazadas. Los oyentes usan información sobre la edad para informar sus juicios de género"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Implicación: El contexto y las expectativas importan.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4495E"/>
                </a:solidFill>
              </a:defRPr>
            </a:pPr>
            <a:r>
              <a:t>Lo que sabemos de la percepción (II)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55555"/>
                </a:solidFill>
              </a:defRPr>
            </a:pPr>
            <a:r>
              <a:t>Funk &amp; Simpson (2023)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1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Identificaron varios factores clave: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39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Pitch como predictor principal (aunque con mucho solapamiento)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79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Espectro de sibilantes (/s/, /z/): los niños tienden a producirlas con energía más baja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Correlación con conformidad de género: los niños que expresan mayor conformidad con estereotipos de género muestran diferencias más marcadas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4495E"/>
                </a:solidFill>
              </a:defRPr>
            </a:pPr>
            <a:r>
              <a:t>La respuesta: no es solo la anatomía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55555"/>
                </a:solidFill>
              </a:defRPr>
            </a:pPr>
            <a:r>
              <a:t>Factor 1: diferencias comportamentales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19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Desde los 2-3 años, los niños internalizan estereotipos de género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Pueden modificar voluntariamente su voz para sonar más "masculinos" o "femeninos"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Cartei et al. (2019): niños de 6-10 años pueden controlar la expresión de masculinidad/feminidad en su voz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4495E"/>
                </a:solidFill>
              </a:defRPr>
            </a:pPr>
            <a:r>
              <a:t>La respuesta: no es solo la anatomía (II)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55555"/>
                </a:solidFill>
              </a:defRPr>
            </a:pPr>
            <a:r>
              <a:t>Factor 2: información prosódica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19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Patrones de entonación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Ritmo del habla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Variabilidad temporal y espectral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06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Mucho más evidente en frases completas que en sílabas aisladas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4495E"/>
                </a:solidFill>
              </a:defRPr>
            </a:pPr>
            <a:r>
              <a:t>La respuesta: no es solo la anatomía (III)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55555"/>
                </a:solidFill>
              </a:defRPr>
            </a:pPr>
            <a:r>
              <a:t>Factor 3: información contextual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19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Duración del estímulo (mejor en oraciones que en vocales aisladas)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Conocimiento de la edad aproximada del hablante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Expectativas culturales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4495E"/>
                </a:solidFill>
              </a:defRPr>
            </a:pPr>
            <a: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55555"/>
                </a:solidFill>
              </a:defRPr>
            </a:pPr>
            <a:r>
              <a:t>Las diferencias acústicas prepuberales son sutiles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19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No hay dimorfismo sexual anatómico significativo antes de la pubertad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Los parámetros acústicos básicos (pitch, formantes) se solapan completamente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4495E"/>
                </a:solidFill>
              </a:defRPr>
            </a:pPr>
            <a:r>
              <a:t>Conclusiones (II)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55555"/>
                </a:solidFill>
              </a:defRPr>
            </a:pPr>
            <a:r>
              <a:t>Pero la percepción es robusta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19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Identificamos correctamente el género en ~70-80% de los casos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La precisión mejora con más contexto (oraciones vs sílabas aisladas)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4495E"/>
                </a:solidFill>
              </a:defRPr>
            </a:pPr>
            <a:r>
              <a:t>Conclusiones (III)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55555"/>
                </a:solidFill>
              </a:defRPr>
            </a:pPr>
            <a:r>
              <a:t>La voz como práctica social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19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Los niños aprenden y practican patrones de habla asociados a su género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La voz no solo refleja anatomía, sino identidad de género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Esto tiene implicaciones importantes: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- Desarrollo del lenguaje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803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- Identidad de género en la infancia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5467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- Terapia de voz para niños con disforia de género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4495E"/>
                </a:solidFill>
              </a:defRPr>
            </a:pPr>
            <a:r>
              <a:t>Reflexión 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55555"/>
                </a:solidFill>
              </a:defRPr>
            </a:pPr>
            <a:r>
              <a:t>La pregunta no es solo "¿cómo diferenciamos?"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1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Es también: ¿Qué nos dice esto sobre cómo se construye el género?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3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La voz infantil nos muestra que el género no es solo biología: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59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Es performativo: se practica y se expresa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14599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Es perceptivo: lo interpretamos con expectativas culturales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39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Es dinámico: evoluciona con el desarrollo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79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3498DB"/>
                </a:solidFill>
              </a:defRPr>
            </a:pPr>
            <a:r>
              <a:t>"A pesar de que las diferencias anatómicas no son significativas, podemos percibir diferencias entre las voces de niños y niñas porque estos transmiten información sobre su identidad de género a través de patrones de articulación aprendidos"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4495E"/>
                </a:solidFill>
              </a:defRPr>
            </a:pPr>
            <a:r>
              <a:t>Preguntas para el debate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¿Creéis que los niños son conscientes de que modifican su voz para sonar más "masculinos" o "femeninos"?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17319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Si las diferencias anatómicas son mínimas, ¿de dónde aprenden los niños estos patrones vocales?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¿Qué implicaciones tiene esto para nuestra comprensión del género como constructo social vs biológico?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• ¿Debería esto cambiar nuestra aproximación a la terapia de voz para niños transgénero?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&lt;!--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4495E"/>
                </a:solidFill>
              </a:defRPr>
            </a:pPr>
            <a:r>
              <a:t>Metodología del análisis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55555"/>
                </a:solidFill>
              </a:defRPr>
            </a:pPr>
            <a:r>
              <a:t>Rigor científico en nuestro estudio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1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✅ Segmentación automática en palabras (detección de silencios)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3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✅ Detección de vocales individuales (pitch + energía)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5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✅ Formantes extraídos solo del punto medio de vocales (donde son estables)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6887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✅ Pitch calculado solo en segmentos sonoros (Voice Activity Detection)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19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✅ Incertidumbre reportada con desviación estándar (±σ)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17519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55555"/>
                </a:solidFill>
              </a:defRPr>
            </a:pPr>
            <a:r>
              <a:t>Por qué esto importa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56615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❌ NO promediamos formantes sobre frases completas → no tiene significado fonético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4047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❌ NO calculamos pitch en consonantes sordas → distorsiona los resultados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1479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❌ NO reportamos valores sin incertidumbre → no es científico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8911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--&gt;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